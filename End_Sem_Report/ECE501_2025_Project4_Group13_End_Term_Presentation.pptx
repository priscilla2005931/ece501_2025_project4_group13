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  <p:embeddedFont>
      <p:font typeface="Helvetica Neue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regular.fntdata"/><Relationship Id="rId11" Type="http://schemas.openxmlformats.org/officeDocument/2006/relationships/slide" Target="slides/slide7.xml"/><Relationship Id="rId22" Type="http://schemas.openxmlformats.org/officeDocument/2006/relationships/font" Target="fonts/HelveticaNeueLight-italic.fntdata"/><Relationship Id="rId10" Type="http://schemas.openxmlformats.org/officeDocument/2006/relationships/slide" Target="slides/slide6.xml"/><Relationship Id="rId21" Type="http://schemas.openxmlformats.org/officeDocument/2006/relationships/font" Target="fonts/HelveticaNeueLigh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HelveticaNeueLigh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slide" Target="slides/slide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2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5.jpg"/><Relationship Id="rId5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i.org/10.1109/ictacs62700.2024.10840489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336375" y="3429000"/>
            <a:ext cx="11149800" cy="1567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Content-Based Image Retrieval System for Chest X-ray Images using Multi-Feature Combination and Distance Metrics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02025" y="5183300"/>
            <a:ext cx="7016100" cy="10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94375" y="5257325"/>
            <a:ext cx="94338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Number: 13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Course: Digital Image Processing (ECE501)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 Prof. Mehul Raval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758400" y="455275"/>
            <a:ext cx="1051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52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5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758400" y="2117025"/>
            <a:ext cx="11246700" cy="30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retrieval system for c</a:t>
            </a: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hest X-ray images are essential for analyzing visual patterns about diagnosing lungs and heart diseases.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similarity measures captures feature vectors and rank retrieved images. 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CBIR overcomes this gap by using intrinsic image features such as texture, shape, and intensity</a:t>
            </a: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Chest X-ray CBIR system proposed, has been developed using features like Histogram, GLCM, Gabor and evaluating retrieval performance through similarity measures and Precision.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58400" y="4413475"/>
            <a:ext cx="10044300" cy="15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 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 non–ML CBIR system for Chest X-ray images that retrieves visually similar images using  handcrafted features to support accurate and efficient medical diagnosis.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655200" y="63075"/>
            <a:ext cx="117732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5200">
                <a:latin typeface="Times New Roman"/>
                <a:ea typeface="Times New Roman"/>
                <a:cs typeface="Times New Roman"/>
                <a:sym typeface="Times New Roman"/>
              </a:rPr>
              <a:t>Work Completed Before Mid-Sem</a:t>
            </a:r>
            <a:endParaRPr sz="5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829350" y="1557175"/>
            <a:ext cx="10341300" cy="46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NIH ChestX-ray14 (via Kaggle)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112,000 images upload; used a subset for testing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Formats: PNG, JPG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Grayscale conversion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Resize to 256×256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15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619250" y="1448313"/>
            <a:ext cx="9598200" cy="47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 – Phase 1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Histogram: Global intensity distribution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GLCM: Texture features (contrast, correlation, energy, homogeneity)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Insights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Histograms show intensity variations clearly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images → high homogeneity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Textured images → high contrast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000"/>
              <a:buNone/>
            </a:pPr>
            <a:r>
              <a:t/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6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619250" y="310275"/>
            <a:ext cx="11679900" cy="17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b="1" lang="en-US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Completed Before Mid-Sem</a:t>
            </a:r>
            <a:endParaRPr b="1"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1249800" y="71450"/>
            <a:ext cx="9621900" cy="129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5200">
                <a:latin typeface="Times New Roman"/>
                <a:ea typeface="Times New Roman"/>
                <a:cs typeface="Times New Roman"/>
                <a:sym typeface="Times New Roman"/>
              </a:rPr>
              <a:t>UPDATED METHODOLOGY</a:t>
            </a:r>
            <a:endParaRPr sz="5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356000" y="1848575"/>
            <a:ext cx="6627000" cy="38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Expanded Feature Set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Gabor Filters: Directional textures (4 orientations)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Wavelet Features: Multi-resolution frequency information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Features: Mean, variance, standard deviation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6096000" y="6046475"/>
            <a:ext cx="1028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7316600" y="1848575"/>
            <a:ext cx="58041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combine features?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Gabor → orientation</a:t>
            </a:r>
            <a:b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Wavelet → frequency</a:t>
            </a:r>
            <a:b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Stats → global structure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1235300" y="134775"/>
            <a:ext cx="9879900" cy="19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5100">
                <a:latin typeface="Times New Roman"/>
                <a:ea typeface="Times New Roman"/>
                <a:cs typeface="Times New Roman"/>
                <a:sym typeface="Times New Roman"/>
              </a:rPr>
              <a:t>UPDATED METHODOLOGY</a:t>
            </a:r>
            <a:endParaRPr sz="5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t/>
            </a:r>
            <a:endParaRPr sz="5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8833725" y="4887725"/>
            <a:ext cx="4078500" cy="3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b="1"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8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99650" y="1441200"/>
            <a:ext cx="80493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Optimization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Cached features in .npy files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L2 normalization for accurate compariso</a:t>
            </a: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Similarity Measures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Euclidean Distance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Cosine Similarity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Chi-square Distance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Precision@K for accuracy measurement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7506475" y="5982900"/>
            <a:ext cx="4232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613175" y="120300"/>
            <a:ext cx="10515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5200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5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613175" y="1285900"/>
            <a:ext cx="7673700" cy="52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Vector Composition</a:t>
            </a:r>
            <a:endParaRPr b="1" sz="2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 Histogram features</a:t>
            </a:r>
            <a:endParaRPr b="1" sz="2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GLCM features</a:t>
            </a:r>
            <a:endParaRPr b="1" sz="2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Gabor features</a:t>
            </a:r>
            <a:endParaRPr b="1" sz="2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~20 Wavelet features</a:t>
            </a:r>
            <a:endParaRPr b="1" sz="2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features</a:t>
            </a:r>
            <a:br>
              <a:rPr b="1" lang="en-US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Observations</a:t>
            </a:r>
            <a:endParaRPr b="1" sz="2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distance = high similarity</a:t>
            </a:r>
            <a:endParaRPr b="1" sz="2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Cosine similarity provides stable ranking</a:t>
            </a:r>
            <a:endParaRPr b="1" sz="2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Chi-square works well for intensity-based comparisons</a:t>
            </a:r>
            <a:endParaRPr b="1" sz="2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19" title="imag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450" y="1184228"/>
            <a:ext cx="7119926" cy="1640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 title="image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8450" y="3029925"/>
            <a:ext cx="7119926" cy="15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456675" y="156724"/>
            <a:ext cx="105156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5200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5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456675" y="1368875"/>
            <a:ext cx="45081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Precision@5 (Insert real values):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Euclidean: 1.00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Cosine: 1.00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Chi-square: 1.00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Retrieval Time: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Euclidean: 0.00017 s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Cosine: 0.00061 s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Chi-square: 0.00020 s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1844275" y="4833950"/>
            <a:ext cx="81918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Cosine similarity offers best speed + accuracy balance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20" title="image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163" y="2380925"/>
            <a:ext cx="3825828" cy="26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 title="image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7391" y="2867774"/>
            <a:ext cx="2777483" cy="1896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 title="image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3175" y="714374"/>
            <a:ext cx="6567350" cy="149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811500" y="246025"/>
            <a:ext cx="105156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52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5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811500" y="1722000"/>
            <a:ext cx="10990200" cy="44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implemented a non-ML CBIR system for chest X-rays.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Combined features (Histogram + GLCM + Gabor + Wavelet) significantly improved retrieval accuracy.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Cosine similarity most efficient among tested metrics.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can support radiologists in case comparison and diagnosis.</a:t>
            </a:r>
            <a:b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to larger datasets and other imaging modalities.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21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3323350" y="159025"/>
            <a:ext cx="7649100" cy="11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52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5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800350" y="1898163"/>
            <a:ext cx="10172100" cy="3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Bano, M., Matta, P., Chandel, S. (2024) Content based Image Retrieval: A study of  approaches and techniques. IEEE Conference Publication., 16–22.</a:t>
            </a:r>
            <a:endParaRPr sz="2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https://doi.org/10.1109/ictacs62700.2024.10840489</a:t>
            </a:r>
            <a:endParaRPr sz="2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NIH Chest X-ray Dataset. [Online]. </a:t>
            </a:r>
            <a:endParaRPr sz="2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Kaggle Chest X-ray Dataset.</a:t>
            </a:r>
            <a:endParaRPr sz="2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sz="2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sz="2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22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\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2830200" y="977225"/>
            <a:ext cx="6479400" cy="185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5800"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5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3279650" y="3429000"/>
            <a:ext cx="8786100" cy="26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rPr b="1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MEMBERS: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PRISCILLA R -  AU2340001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SHREYA DHUMAL -  AU2340124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PRATIKSHA DONGARE -  AU234012</a:t>
            </a:r>
            <a:r>
              <a:rPr lang="en-US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KRISSA GANDHI -  AU2340055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sz="16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23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